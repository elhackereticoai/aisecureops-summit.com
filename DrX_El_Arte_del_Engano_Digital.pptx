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ARTE DEL ENGAÑO DIGITAL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 Social y Phishing Avanzado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X | AIsecureOps Summit 2024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DISCLAIMER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5"/>
                </a:solidFill>
              </a:rPr>
              <a:t>El contenido de esta presentación es estrictamente educativo y tiene como único propósito: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A0A0A0"/>
                </a:solidFill>
              </a:rPr>
              <a:t>• Mejorar la concienciación sobre amenazas de ingeniería social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A0A0A0"/>
                </a:solidFill>
              </a:rPr>
              <a:t>• Fortalecer las defensas organizacionales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A0A0A0"/>
                </a:solidFill>
              </a:rPr>
              <a:t>• Entrenar a profesionales de ciberseguridad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397764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4560"/>
                </a:solidFill>
              </a:rPr>
              <a:t>El uso malicioso de estas técnicas es ilegal y no está respaldado por el autor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</a:rPr>
              <a:t>¿QUÉ ES LA INGENIERÍA SOCIAL?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657600" cy="34747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3291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94560"/>
                </a:solidFill>
              </a:rPr>
              <a:t>Definición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Manipulación psicológica de personas para obtener información confidencial o acceso a sistemas mediante la explotación de la confianza humana.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0" y="1005840"/>
            <a:ext cx="3657600" cy="34747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5212080" y="1280160"/>
            <a:ext cx="3291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4560"/>
                </a:solidFill>
              </a:rPr>
              <a:t>Por qué funciona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0A0A0"/>
                </a:solidFill>
              </a:rPr>
              <a:t>• Naturaleza confiada humana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0A0A0"/>
                </a:solidFill>
              </a:rPr>
              <a:t>• Deseo de ayudar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0A0A0"/>
                </a:solidFill>
              </a:rPr>
              <a:t>• Autoridad percibida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0A0A0"/>
                </a:solidFill>
              </a:rPr>
              <a:t>• Urgencia y presión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0A0A0"/>
                </a:solidFill>
              </a:rPr>
              <a:t>• Falta de concienciación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</a:rPr>
              <a:t>ESTADÍSTICAS ALARMANTES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2560320" cy="25603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94560"/>
                </a:solidFill>
              </a:rPr>
              <a:t>98%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A0"/>
                </a:solidFill>
              </a:rPr>
              <a:t>ataques requieren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0A0A0"/>
                </a:solidFill>
              </a:rPr>
              <a:t>interacción humana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566160" y="1371600"/>
            <a:ext cx="2560320" cy="25603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3566160" y="16459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94560"/>
                </a:solidFill>
              </a:rPr>
              <a:t>85%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566160" y="25603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A0"/>
                </a:solidFill>
              </a:rPr>
              <a:t>brechas de datos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0A0A0"/>
                </a:solidFill>
              </a:rPr>
              <a:t>involucran factor humano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1371600"/>
            <a:ext cx="2560320" cy="25603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6459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94560"/>
                </a:solidFill>
              </a:rPr>
              <a:t>$4.35M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400800" y="25603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A0"/>
                </a:solidFill>
              </a:rPr>
              <a:t>costo promedio 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0A0A0"/>
                </a:solidFill>
              </a:rPr>
              <a:t>una brecha de datos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0A0A0"/>
                </a:solidFill>
              </a:rPr>
              <a:t>Fuente: Verizon DBIR 2024, IBM Cost of Data Breach Report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</a:rPr>
              <a:t>EL CICLO DEL ATAQUE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457200" cy="45720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11887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</a:rPr>
              <a:t>RECONOCIMIENTO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417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Recolección de información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sobre el objetivo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60120" y="1737360"/>
            <a:ext cx="0" cy="13716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1874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</a:rPr>
              <a:t>PRETEXTING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1031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Creación de escenario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creíble y confiable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60120" y="2423160"/>
            <a:ext cx="0" cy="13716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1520" y="2560320"/>
            <a:ext cx="457200" cy="45720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2560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</a:rPr>
              <a:t>ENGAGEMENT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27889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Contacto inicial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y establecer rapport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60120" y="3108960"/>
            <a:ext cx="0" cy="13716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1520" y="3246120"/>
            <a:ext cx="457200" cy="45720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71600" y="32461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</a:rPr>
              <a:t>EXPLOTACIÓN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4747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Obtención de información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o acceso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60120" y="3794760"/>
            <a:ext cx="0" cy="13716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371600" y="39319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</a:rPr>
              <a:t>EVASIÓN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71600" y="4160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Salida sin levantar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sospechas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4560"/>
                </a:solidFill>
              </a:rPr>
              <a:t>Vectores de Ataque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937760" y="192024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0A0A0"/>
                </a:solidFill>
              </a:rPr>
              <a:t>• Email / Phishing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0A0A0"/>
                </a:solidFill>
              </a:rPr>
              <a:t>• Vishing (voz)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0A0A0"/>
                </a:solidFill>
              </a:rPr>
              <a:t>• Smishing (SMS)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0A0A0"/>
                </a:solidFill>
              </a:rPr>
              <a:t>• Presencial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0A0A0"/>
                </a:solidFill>
              </a:rPr>
              <a:t>• Redes sociales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0A0A0"/>
                </a:solidFill>
              </a:rPr>
              <a:t>• Sitios web falsos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</a:rPr>
              <a:t>TIPOS DE PHISHING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13716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25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</a:rPr>
              <a:t>SPRAY &amp; PRAY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</a:rPr>
              <a:t>Emails masivos sin personalización. Baja tasa de éxito pero gran volumen.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0A0"/>
                </a:solidFill>
              </a:rPr>
              <a:t>🎯 Usuarios generales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0" y="1188720"/>
            <a:ext cx="4114800" cy="13716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0" y="1325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</a:rPr>
              <a:t>SPEAR PHISHING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16459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</a:rPr>
              <a:t>Ataques dirigidos con información personalizada del objetivo.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12080" y="22402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0A0"/>
                </a:solidFill>
              </a:rPr>
              <a:t>🎯 Empleados específicos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4114800" cy="13716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880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</a:rPr>
              <a:t>WHALING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2004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</a:rPr>
              <a:t>Dirigido a ejecutivos de alto nivel con técnicas sofisticadas.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7947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0A0"/>
                </a:solidFill>
              </a:rPr>
              <a:t>🎯 C-Level, Directivos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0" y="2743200"/>
            <a:ext cx="4114800" cy="13716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0" y="2880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</a:rPr>
              <a:t>CLONE PHISHING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12080" y="32004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</a:rPr>
              <a:t>Duplicación de emails legítimos con enlaces/adjuntos maliciosos.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12080" y="37947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0A0"/>
                </a:solidFill>
              </a:rPr>
              <a:t>🎯 Organizaciones específicas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</a:rPr>
              <a:t>OSINT: RECONOCIMIENTO DIGITAL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4560"/>
                </a:solidFill>
              </a:rPr>
              <a:t>Fuentes de Información Pública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0A0A0"/>
                </a:solidFill>
              </a:rPr>
              <a:t>• LinkedIn - Estructura organizacional, roles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0A0A0"/>
                </a:solidFill>
              </a:rPr>
              <a:t>• Redes sociales - Intereses, hábitos, ubicaciones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0A0A0"/>
                </a:solidFill>
              </a:rPr>
              <a:t>• Sitio web corporativo - Tecnologías, contactos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0A0A0"/>
                </a:solidFill>
              </a:rPr>
              <a:t>• Repositorios públicos - Código, configuraciones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0A0A0"/>
                </a:solidFill>
              </a:rPr>
              <a:t>• Registros públicos - Dominios, certificados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0A0A0"/>
                </a:solidFill>
              </a:rPr>
              <a:t>• Job postings - Stack tecnológico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0" y="1097280"/>
            <a:ext cx="3657600" cy="3200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5212080" y="1280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4560"/>
                </a:solidFill>
              </a:rPr>
              <a:t>Herramientas Esenciales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212080" y="173736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</a:rPr>
              <a:t>theHarvester - Email harvesting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</a:rPr>
              <a:t>Maltego - Visualización de relaciones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</a:rPr>
              <a:t>Recon-ng - Framework de reconocimiento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</a:rPr>
              <a:t>Shodan - IoT y sistemas expuestos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</a:rPr>
              <a:t>SpiderFoot - Automatización OSINT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</a:rPr>
              <a:t>Google Dorking - Búsquedas avanzadas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</a:rPr>
              <a:t>ANATOMÍA DE UN PHISHING PERFECTO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60320" cy="12801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17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📧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4560"/>
                </a:solidFill>
              </a:rPr>
              <a:t>Remitente Creíble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Dominio similar o comprometido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280160"/>
            <a:ext cx="2560320" cy="12801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1417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566160" y="1828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4560"/>
                </a:solidFill>
              </a:rPr>
              <a:t>Sentido de Urgencia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66160" y="2148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Presión temporal para actuar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2560320" cy="12801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417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🎭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00800" y="1828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4560"/>
                </a:solidFill>
              </a:rPr>
              <a:t>Personalización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2148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Información específica del objetivo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834640"/>
            <a:ext cx="2560320" cy="12801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971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31520" y="33832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4560"/>
                </a:solidFill>
              </a:rPr>
              <a:t>Llamada a la Acción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3703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Enlace o adjunto malicioso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2834640"/>
            <a:ext cx="2560320" cy="12801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566160" y="2971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566160" y="33832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4560"/>
                </a:solidFill>
              </a:rPr>
              <a:t>Apariencia Legítima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566160" y="3703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Logos, firmas, formato corporativo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2834640"/>
            <a:ext cx="2560320" cy="12801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2971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400800" y="33832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4560"/>
                </a:solidFill>
              </a:rPr>
              <a:t>Ingeniería Psicológica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0" y="3703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Explotación de emociones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</a:rPr>
              <a:t>TÉCNICAS AVANZADAS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TYPOSQUATTING &amp; HOMOGRAPH ATTACKS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5"/>
                </a:solidFill>
              </a:rPr>
              <a:t>Dominios similares: </a:t>
            </a:r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</a:rPr>
              <a:t>bankofamerica.com → bankofamerika.com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5F5F5"/>
                </a:solidFill>
              </a:rPr>
              <a:t>Caracteres Unicode: </a:t>
            </a:r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</a:rPr>
              <a:t>apple.com → аpple.com (cirílico 'а')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7889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CREDENTIAL HARVESTING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0A0A0"/>
                </a:solidFill>
              </a:rPr>
              <a:t>Páginas de login falsas idénticas al original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0A0A0"/>
                </a:solidFill>
              </a:rPr>
              <a:t>Captura de credenciales en tiempo real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0A0A0"/>
                </a:solidFill>
              </a:rPr>
              <a:t>Redirección automática al sitio legítimo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</a:rPr>
              <a:t>CASO DE ESTUDIO: TARGET 2013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657600" cy="4572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Vector de Ataque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0A0A0"/>
                </a:solidFill>
              </a:rPr>
              <a:t>Email de phishing a proveedor HVAC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0A0A0"/>
                </a:solidFill>
              </a:rPr>
              <a:t>Malware tipo Citadel en sistema del proveedor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0A0A0"/>
                </a:solidFill>
              </a:rPr>
              <a:t>Acceso a red de Target vía credenciales VPN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0A0A0"/>
                </a:solidFill>
              </a:rPr>
              <a:t>Instalación de RAM scraper en sistemas POS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3657600" cy="4572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188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Impacto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173736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0A0A0"/>
                </a:solidFill>
              </a:rPr>
              <a:t>40 millones de tarjetas comprometidas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0A0A0"/>
                </a:solidFill>
              </a:rPr>
              <a:t>70 millones de registros de clientes robados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0A0A0"/>
                </a:solidFill>
              </a:rPr>
              <a:t>$292 millones en costos y settlements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0A0A0"/>
                </a:solidFill>
              </a:rPr>
              <a:t>Daño reputacional masivo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383280"/>
            <a:ext cx="7863840" cy="9144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61188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94560"/>
                </a:solidFill>
              </a:rPr>
              <a:t>Lección Clave: La cadena de seguridad es tan fuerte como su eslabón más débil. Los proveedores y terceros son vectores de ataque críticos.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</a:rPr>
              <a:t>DEFENSAS Y CONTRAMEDIDAS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743200" cy="4572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TÉCNICAS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0A0A0"/>
                </a:solidFill>
              </a:rPr>
              <a:t>Email authentication (SPF, DKIM, DMARC)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0A0A0"/>
                </a:solidFill>
              </a:rPr>
              <a:t>Sandboxing de adjuntos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0A0A0"/>
                </a:solidFill>
              </a:rPr>
              <a:t>URL filtering y rewriting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0A0A0"/>
                </a:solidFill>
              </a:rPr>
              <a:t>Multi-Factor Authentication (MFA)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0A0A0"/>
                </a:solidFill>
              </a:rPr>
              <a:t>Endpoint Detection &amp; Response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83280" y="1097280"/>
            <a:ext cx="2743200" cy="4572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3566160" y="1188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HUMANAS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566160" y="169164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0A0A0"/>
                </a:solidFill>
              </a:rPr>
              <a:t>Security awareness training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0A0A0"/>
                </a:solidFill>
              </a:rPr>
              <a:t>Simulaciones de phishing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0A0A0"/>
                </a:solidFill>
              </a:rPr>
              <a:t>Reporting fácil y sin castigo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0A0A0"/>
                </a:solidFill>
              </a:rPr>
              <a:t>Cultura de seguridad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0A0A0"/>
                </a:solidFill>
              </a:rPr>
              <a:t>Verificación de solicitudes inusuales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097280"/>
            <a:ext cx="2743200" cy="4572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188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ORGANIZACIONALES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169164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0A0A0"/>
                </a:solidFill>
              </a:rPr>
              <a:t>Políticas de acceso mínimo privilegio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0A0A0"/>
                </a:solidFill>
              </a:rPr>
              <a:t>Segmentación de red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0A0A0"/>
                </a:solidFill>
              </a:rPr>
              <a:t>Monitoreo continuo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0A0A0"/>
                </a:solidFill>
              </a:rPr>
              <a:t>Incident response plan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0A0A0"/>
                </a:solidFill>
              </a:rPr>
              <a:t>Vendor risk management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</a:rPr>
              <a:t>🚩 RED FLAGS A DETECTAR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840480" cy="5486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1280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</a:rPr>
              <a:t>Urgencia extrema o amenazas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3840480" cy="5486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498348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40680" y="1280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</a:rPr>
              <a:t>Solicitudes inusuales de información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1920240"/>
            <a:ext cx="3840480" cy="5486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34440" y="2011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</a:rPr>
              <a:t>Errores gramaticales u ortográficos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1920240"/>
            <a:ext cx="3840480" cy="5486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40680" y="2011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</a:rPr>
              <a:t>Remitente desconocido o sospechoso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2651760"/>
            <a:ext cx="3840480" cy="5486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34440" y="2743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</a:rPr>
              <a:t>Enlaces que no coinciden con el texto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2651760"/>
            <a:ext cx="3840480" cy="5486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440680" y="2743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</a:rPr>
              <a:t>Adjuntos inesperados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3383280"/>
            <a:ext cx="3840480" cy="5486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34440" y="3474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</a:rPr>
              <a:t>Solicitudes de credenciales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3383280"/>
            <a:ext cx="3840480" cy="5486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440680" y="3474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</a:rPr>
              <a:t>Ofertas demasiado buenas para ser verdad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5"/>
                </a:solidFill>
              </a:rPr>
              <a:t>PRINCIPIOS DE INFLUENCIA (CIALDINI)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94560"/>
                </a:solidFill>
              </a:rPr>
              <a:t>Explotados en Ataques de Ingeniería Social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25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</a:rPr>
              <a:t>RECIPROCIDAD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0" y="1325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</a:rPr>
              <a:t>Dar algo primero para crear obligación de devolver el favor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847088"/>
            <a:ext cx="7863840" cy="4572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928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</a:rPr>
              <a:t>COMPROMISO Y CONSISTENCIA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0" y="18928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</a:rPr>
              <a:t>Las personas actúan consistente con compromisos previos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414016"/>
            <a:ext cx="7863840" cy="4572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45973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</a:rPr>
              <a:t>PRUEBA SOCIAL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0" y="245973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</a:rPr>
              <a:t>Seguir el comportamiento de otros en situaciones inciertas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980944"/>
            <a:ext cx="7863840" cy="4572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02666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</a:rPr>
              <a:t>AUTORIDAD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0" y="302666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</a:rPr>
              <a:t>Tendencia a obedecer figuras de autoridad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547872"/>
            <a:ext cx="7863840" cy="4572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5935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</a:rPr>
              <a:t>SIMPATÍA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0" y="3593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</a:rPr>
              <a:t>Más propensos a ser influenciados por quienes nos agradan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160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</a:rPr>
              <a:t>ESCASEZ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0" y="4160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</a:rPr>
              <a:t>Lo limitado o urgente parece más valioso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</a:rPr>
              <a:t>HERRAMIENTAS DEL ATACANTE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840480" cy="32004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</a:rPr>
              <a:t>Phishing Frameworks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</a:rPr>
              <a:t>GoPhish - Open source phishing framework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</a:rPr>
              <a:t>King Phisher - Campaign management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</a:rPr>
              <a:t>Social-Engineer Toolkit (SET)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</a:rPr>
              <a:t>Evilginx2 - MFA bypass via proxy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</a:rPr>
              <a:t>Modlishka - Reverse proxy phishing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3840480" cy="32004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</a:rPr>
              <a:t>Evasión y Ofuscación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173736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0A0A0"/>
                </a:solidFill>
              </a:rPr>
              <a:t>URL shorteners y redirects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0A0A0"/>
                </a:solidFill>
              </a:rPr>
              <a:t>Codificación de payloads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0A0A0"/>
                </a:solidFill>
              </a:rPr>
              <a:t>Polyglot files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0A0A0"/>
                </a:solidFill>
              </a:rPr>
              <a:t>Time-based delivery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0A0A0"/>
                </a:solidFill>
              </a:rPr>
              <a:t>Geofencing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0A0A0"/>
                </a:solidFill>
              </a:rPr>
              <a:t>Anti-sandbox techniques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5"/>
                </a:solidFill>
              </a:rPr>
              <a:t>CONCLUSIONES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7315200" cy="3200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463040"/>
            <a:ext cx="6766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</a:rPr>
              <a:t>La ingeniería social explota la psicología humana, no vulnerabilidades técnicas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</a:rPr>
              <a:t>La mejor defensa es una combinación de tecnología, procesos y educación continua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</a:rPr>
              <a:t>El factor humano seguirá siendo el eslabón más débil y más explotado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</a:rPr>
              <a:t>La concienciación y el escepticismo saludable son armas poderosas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❓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PREGUNTAS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A0"/>
                </a:solidFill>
              </a:rPr>
              <a:t>Dr. X | drx@protonmail.com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Arte del Engaño Digital</dc:title>
  <dc:subject>PptxGenJS Presentation</dc:subject>
  <dc:creator>Dr. X</dc:creator>
  <cp:lastModifiedBy>Dr. X</cp:lastModifiedBy>
  <cp:revision>1</cp:revision>
  <dcterms:created xsi:type="dcterms:W3CDTF">2026-02-06T17:31:03Z</dcterms:created>
  <dcterms:modified xsi:type="dcterms:W3CDTF">2026-02-06T17:31:03Z</dcterms:modified>
</cp:coreProperties>
</file>